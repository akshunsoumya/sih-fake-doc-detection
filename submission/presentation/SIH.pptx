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 master presentation and implemented prototype details from the project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Source: project master presentation and implemented prototype details from the project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Source: project master presentation and implemented prototype details from the project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Source: project master presentation and implemented prototype details from the project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Source: project master presentation and implemented prototype details from the project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Source: project master presentation and implemented prototype details from the project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0EC2-5F3A-4C05-B82E-8A13F0D01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00A2E-395D-44A6-B7CD-E4C8840DA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B2371-3291-4A5C-B78D-1FC90341EB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126CF-3191-4923-B9CA-690DE25630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1E410-6E18-4534-99A7-BC86A61092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9FBF-91EC-44B9-824D-D25BC26B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69AF0-1A96-4056-B0C6-9AF06233C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59E6D-43D5-4390-AC46-530BE330DD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723DD-838D-41EC-B23E-E37B6935B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ABE14-BEFA-4FFA-8D31-2D37646E1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DA04-F987-41C0-B859-05A4C27B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74581-865B-44FA-BAD7-1E371D043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2A86-6A80-4845-BA28-5A0E9507FB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0FBFE-26E9-4C59-8B94-792BC12784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CD0F-57E3-422C-8C58-911426E572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6184-109E-47BF-93C0-4AC4B7AA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BAB6-1CD6-45AF-9723-A1F6D2D63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11962-62A8-4802-9FCF-DA714ED62AA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10BEBE-58A3-4833-BFE8-4DCE493C48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9/10/2026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40C5848-C5CA-44A9-91E5-AC0C7F49C8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F2A617A-0A07-4621-BE4A-5A06A8B4C4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BC01-578E-467A-AE48-BF7615CD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BE282-222E-44B7-8E9B-FB363E34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DF48-A889-4D5A-8BB2-40FEF6D39FF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0D793-8724-4B98-8B93-55BF9A2223C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0093B-19D3-4419-8D57-BC7EEE6CABE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9928391-4F83-4A85-855E-8A2C66D86D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9/10/2026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8B08E06-980E-4249-ADEA-CA8B5D7F4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C3D3F8-A2F9-44F2-8F99-9B7F3103F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D35A-FDDB-4D8D-9889-B53D5724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135D9D-D61A-446E-8EC7-D9BD4B59E3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9/10/2026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FAA533C-5459-4324-B4F6-DC9F76CCF6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644366-B095-4C41-96BD-359CBAB9F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F25CDB5-9737-48CC-9977-260CF04002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9/10/2026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401E87-38BC-4191-B260-7121E905DC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1997694-D8CA-4FCB-B781-78E1211CB3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A49C-3F32-4FB7-B4A0-82E70C38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A2346-9050-48C0-BFC5-D438CCB0A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9DAFB-5FE0-4E22-B69C-3BA748E93D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E3EE2D-75CB-4D40-A963-439511A36A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9/10/2026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CABFCC-EB1C-4660-9B95-7B811FD35B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99F80C2-7606-41BE-9FBC-C13DE9F8EA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22F1-1587-4AA7-A9EA-02E10DB8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F26CA-21BD-4CC6-8363-DE345F625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6FA6F-5F43-4DAA-B0A8-5E01D74686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7FD29C-8E48-4654-AA6B-9FB91F16D5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9/10/2026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E09489-319C-49B3-B3E4-E607A51A14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FE8A372-566A-4386-A88F-897602D722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554B-F95C-4E0A-8687-61FF8EC4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79972-3F21-4D08-9EE1-45FA315E6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C9F7F-ADE2-4E20-A7D4-ED7ABC2379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26366-124D-4D0B-A3F0-2A8763E543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4093B-BDFF-42FE-97DD-0F950131EB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29F17-C329-411C-A4F0-8635503E8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89121-96EC-4993-9C83-C4E01CF95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B8935-9BBB-40D4-A024-5A1FBF87D5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5FD32-5683-4397-9398-6A912BBB04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475C-4FDF-4687-AE6B-9844293B86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4651EBF-EF4C-4022-8498-A8B2CEE5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0349EE2-ADF4-4FD0-9CA5-7E2127E9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D0A4D-42B7-4055-838C-D4DE6998936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925F-22EB-4ECC-9A30-C5DFDBC43C7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F0042-0885-4AEF-8C3B-33AD1D7A83E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D6FC85ED-B099-4636-8120-ECF75BB22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7360" y="566928"/>
            <a:ext cx="6492240" cy="1417320"/>
          </a:xfrm>
        </p:spPr>
        <p:txBody>
          <a:bodyPr wrap="square" anchor="t"/>
          <a:lstStyle/>
          <a:p>
            <a:pPr algn="ctr">
              <a:buNone/>
            </a:pPr>
            <a:r>
              <a:rPr sz="25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DOCVERIFY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buNone/>
            </a:pPr>
            <a:r>
              <a:rPr sz="25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AI-BASED IDENTITY DOCUMENT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buNone/>
            </a:pPr>
            <a:r>
              <a:rPr sz="25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FORGERY DETECTION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BB0A69-3440-49A0-BCA0-26759F91D7DD}"/>
              </a:ext>
            </a:extLst>
          </p:cNvPr>
          <p:cNvSpPr>
            <a:spLocks noGrp="1"/>
          </p:cNvSpPr>
          <p:nvPr/>
        </p:nvSpPr>
        <p:spPr>
          <a:xfrm>
            <a:off x="475488" y="2212848"/>
            <a:ext cx="5989320" cy="22775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 dirty="0">
                <a:solidFill>
                  <a:srgbClr val="0F1C30"/>
                </a:solidFill>
                <a:latin typeface="Aptos"/>
              </a:rPr>
              <a:t>Project / Idea:</a:t>
            </a:r>
            <a:r>
              <a:rPr lang="en-GB" sz="1420" b="0" dirty="0">
                <a:solidFill>
                  <a:srgbClr val="0F1C30"/>
                </a:solidFill>
                <a:latin typeface="Aptos"/>
              </a:rPr>
              <a:t> </a:t>
            </a:r>
            <a:r>
              <a:rPr sz="1420" b="0" dirty="0" err="1">
                <a:solidFill>
                  <a:srgbClr val="0F1C30"/>
                </a:solidFill>
                <a:latin typeface="Aptos"/>
              </a:rPr>
              <a:t>DocVerify</a:t>
            </a:r>
            <a:r>
              <a:rPr sz="1420" b="0" dirty="0">
                <a:solidFill>
                  <a:srgbClr val="0F1C30"/>
                </a:solidFill>
                <a:latin typeface="Aptos"/>
              </a:rPr>
              <a:t> — AI-Based Identity Document Forgery Detection
Problem Statement ID: 26188
Problem Statement Title: AI-Based Fake Identity &amp; Document Screening System
Organization: Ministry of Home Affairs
Department:</a:t>
            </a:r>
            <a:r>
              <a:rPr lang="en-GB" sz="1420" b="0" dirty="0">
                <a:solidFill>
                  <a:srgbClr val="0F1C30"/>
                </a:solidFill>
                <a:latin typeface="Aptos"/>
              </a:rPr>
              <a:t> </a:t>
            </a:r>
            <a:r>
              <a:rPr sz="1420" b="0" dirty="0" err="1">
                <a:solidFill>
                  <a:srgbClr val="0F1C30"/>
                </a:solidFill>
                <a:latin typeface="Aptos"/>
              </a:rPr>
              <a:t>Sashastra</a:t>
            </a:r>
            <a:r>
              <a:rPr sz="1420" b="0" dirty="0">
                <a:solidFill>
                  <a:srgbClr val="0F1C30"/>
                </a:solidFill>
                <a:latin typeface="Aptos"/>
              </a:rPr>
              <a:t> Seema Bal (SSB), Police II Division
Category: Software
Theme: Blockchain &amp; Cybersecurity
Team ID</a:t>
            </a:r>
            <a:r>
              <a:rPr sz="1420" b="0">
                <a:solidFill>
                  <a:srgbClr val="0F1C30"/>
                </a:solidFill>
                <a:latin typeface="Aptos"/>
              </a:rPr>
              <a:t>: </a:t>
            </a:r>
            <a:r>
              <a:rPr sz="1420" b="0" dirty="0">
                <a:solidFill>
                  <a:srgbClr val="0F1C30"/>
                </a:solidFill>
                <a:latin typeface="Aptos"/>
              </a:rPr>
              <a:t>
Team Name: </a:t>
            </a:r>
            <a:r>
              <a:rPr lang="en-GB" sz="1420" b="0" dirty="0">
                <a:solidFill>
                  <a:srgbClr val="0F1C30"/>
                </a:solidFill>
                <a:latin typeface="Aptos"/>
              </a:rPr>
              <a:t>Hexa Tree</a:t>
            </a:r>
            <a:endParaRPr sz="1420" b="0" dirty="0">
              <a:solidFill>
                <a:srgbClr val="0F1C30"/>
              </a:solidFill>
              <a:latin typeface="Aptos"/>
            </a:endParaRPr>
          </a:p>
        </p:txBody>
      </p:sp>
      <p:pic>
        <p:nvPicPr>
          <p:cNvPr id="46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41366" y="6297"/>
            <a:ext cx="2209120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81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CAFFCB-B8E2-482E-9105-B5868C508179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20D1F811-2F24-409A-90CE-DF3E7D68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algn="ctr">
              <a:buNone/>
            </a:pPr>
            <a:r>
              <a:rPr sz="24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DOCVERIFY — EXPLAINABLE DOCUMENT SCREENING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8654B-DBEE-4B39-9E54-057BA6CD5C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A52B9F-18A0-4366-8F1E-D669FBA31A3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5399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5362" name="TextBox 15361">
            <a:extLst>
              <a:ext uri="{FF2B5EF4-FFF2-40B4-BE49-F238E27FC236}">
                <a16:creationId xmlns:a16="http://schemas.microsoft.com/office/drawing/2014/main" id="{024FF3A4-64A2-4F76-973C-AF7714315D1E}"/>
              </a:ext>
            </a:extLst>
          </p:cNvPr>
          <p:cNvSpPr>
            <a:spLocks noGrp="1"/>
          </p:cNvSpPr>
          <p:nvPr/>
        </p:nvSpPr>
        <p:spPr>
          <a:xfrm>
            <a:off x="54864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/>
              <a:t>AI-assisted screening for Aadhaar and passport images, with document-specific checks, field localization, forensic signals, and human-readable reasons for review.</a:t>
            </a:r>
          </a:p>
        </p:txBody>
      </p:sp>
      <p:sp>
        <p:nvSpPr>
          <p:cNvPr id="15363" name="Rounded Rectangle 15362">
            <a:extLst>
              <a:ext uri="{FF2B5EF4-FFF2-40B4-BE49-F238E27FC236}">
                <a16:creationId xmlns:a16="http://schemas.microsoft.com/office/drawing/2014/main" id="{89CD3098-EAC4-4878-ADA8-BAE71B6F622E}"/>
              </a:ext>
            </a:extLst>
          </p:cNvPr>
          <p:cNvSpPr>
            <a:spLocks noGrp="1"/>
          </p:cNvSpPr>
          <p:nvPr/>
        </p:nvSpPr>
        <p:spPr>
          <a:xfrm>
            <a:off x="320040" y="182880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64" name="TextBox 15363">
            <a:extLst>
              <a:ext uri="{FF2B5EF4-FFF2-40B4-BE49-F238E27FC236}">
                <a16:creationId xmlns:a16="http://schemas.microsoft.com/office/drawing/2014/main" id="{A2100E32-1693-42D7-866E-1F8841BCA271}"/>
              </a:ext>
            </a:extLst>
          </p:cNvPr>
          <p:cNvSpPr>
            <a:spLocks noGrp="1"/>
          </p:cNvSpPr>
          <p:nvPr/>
        </p:nvSpPr>
        <p:spPr>
          <a:xfrm>
            <a:off x="429768" y="1920240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365" name="TextBox 15364">
            <a:extLst>
              <a:ext uri="{FF2B5EF4-FFF2-40B4-BE49-F238E27FC236}">
                <a16:creationId xmlns:a16="http://schemas.microsoft.com/office/drawing/2014/main" id="{7D5112DE-2463-4FC9-A5B1-A0982CBA68E1}"/>
              </a:ext>
            </a:extLst>
          </p:cNvPr>
          <p:cNvSpPr>
            <a:spLocks noGrp="1"/>
          </p:cNvSpPr>
          <p:nvPr/>
        </p:nvSpPr>
        <p:spPr>
          <a:xfrm>
            <a:off x="777240" y="190195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5366" name="TextBox 15365">
            <a:extLst>
              <a:ext uri="{FF2B5EF4-FFF2-40B4-BE49-F238E27FC236}">
                <a16:creationId xmlns:a16="http://schemas.microsoft.com/office/drawing/2014/main" id="{24F50E62-10AD-4330-AA25-A3D070442826}"/>
              </a:ext>
            </a:extLst>
          </p:cNvPr>
          <p:cNvSpPr>
            <a:spLocks noGrp="1"/>
          </p:cNvSpPr>
          <p:nvPr/>
        </p:nvSpPr>
        <p:spPr>
          <a:xfrm>
            <a:off x="429768" y="228600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JPG / PNG</a:t>
            </a:r>
          </a:p>
        </p:txBody>
      </p:sp>
      <p:sp>
        <p:nvSpPr>
          <p:cNvPr id="15367" name="TextBox 15366">
            <a:extLst>
              <a:ext uri="{FF2B5EF4-FFF2-40B4-BE49-F238E27FC236}">
                <a16:creationId xmlns:a16="http://schemas.microsoft.com/office/drawing/2014/main" id="{8ADE5154-D721-4BDD-ABD8-EAF53FC5FC87}"/>
              </a:ext>
            </a:extLst>
          </p:cNvPr>
          <p:cNvSpPr>
            <a:spLocks noGrp="1"/>
          </p:cNvSpPr>
          <p:nvPr/>
        </p:nvSpPr>
        <p:spPr>
          <a:xfrm>
            <a:off x="2359152" y="21762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368" name="Rounded Rectangle 15367">
            <a:extLst>
              <a:ext uri="{FF2B5EF4-FFF2-40B4-BE49-F238E27FC236}">
                <a16:creationId xmlns:a16="http://schemas.microsoft.com/office/drawing/2014/main" id="{6BA0ED5C-88FE-48C5-84B3-1875A5032140}"/>
              </a:ext>
            </a:extLst>
          </p:cNvPr>
          <p:cNvSpPr>
            <a:spLocks noGrp="1"/>
          </p:cNvSpPr>
          <p:nvPr/>
        </p:nvSpPr>
        <p:spPr>
          <a:xfrm>
            <a:off x="2651760" y="182880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69" name="TextBox 15368">
            <a:extLst>
              <a:ext uri="{FF2B5EF4-FFF2-40B4-BE49-F238E27FC236}">
                <a16:creationId xmlns:a16="http://schemas.microsoft.com/office/drawing/2014/main" id="{3DD98C79-F44A-4B54-AC4E-16EA1EFA27AE}"/>
              </a:ext>
            </a:extLst>
          </p:cNvPr>
          <p:cNvSpPr>
            <a:spLocks noGrp="1"/>
          </p:cNvSpPr>
          <p:nvPr/>
        </p:nvSpPr>
        <p:spPr>
          <a:xfrm>
            <a:off x="2761488" y="1920240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370" name="TextBox 15369">
            <a:extLst>
              <a:ext uri="{FF2B5EF4-FFF2-40B4-BE49-F238E27FC236}">
                <a16:creationId xmlns:a16="http://schemas.microsoft.com/office/drawing/2014/main" id="{42989DF7-62EA-482D-AC6F-05883DCC6CD6}"/>
              </a:ext>
            </a:extLst>
          </p:cNvPr>
          <p:cNvSpPr>
            <a:spLocks noGrp="1"/>
          </p:cNvSpPr>
          <p:nvPr/>
        </p:nvSpPr>
        <p:spPr>
          <a:xfrm>
            <a:off x="3108960" y="190195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15371" name="TextBox 15370">
            <a:extLst>
              <a:ext uri="{FF2B5EF4-FFF2-40B4-BE49-F238E27FC236}">
                <a16:creationId xmlns:a16="http://schemas.microsoft.com/office/drawing/2014/main" id="{6CE30973-F0DE-4507-A657-1856EED54D7D}"/>
              </a:ext>
            </a:extLst>
          </p:cNvPr>
          <p:cNvSpPr>
            <a:spLocks noGrp="1"/>
          </p:cNvSpPr>
          <p:nvPr/>
        </p:nvSpPr>
        <p:spPr>
          <a:xfrm>
            <a:off x="2761488" y="228600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Aadhaar / Passport</a:t>
            </a:r>
          </a:p>
        </p:txBody>
      </p:sp>
      <p:sp>
        <p:nvSpPr>
          <p:cNvPr id="15372" name="TextBox 15371">
            <a:extLst>
              <a:ext uri="{FF2B5EF4-FFF2-40B4-BE49-F238E27FC236}">
                <a16:creationId xmlns:a16="http://schemas.microsoft.com/office/drawing/2014/main" id="{EC6AD95C-D794-42CF-AF9C-F127B3268968}"/>
              </a:ext>
            </a:extLst>
          </p:cNvPr>
          <p:cNvSpPr>
            <a:spLocks noGrp="1"/>
          </p:cNvSpPr>
          <p:nvPr/>
        </p:nvSpPr>
        <p:spPr>
          <a:xfrm>
            <a:off x="4690872" y="21762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373" name="Rounded Rectangle 15372">
            <a:extLst>
              <a:ext uri="{FF2B5EF4-FFF2-40B4-BE49-F238E27FC236}">
                <a16:creationId xmlns:a16="http://schemas.microsoft.com/office/drawing/2014/main" id="{57103C2B-73D3-460B-9062-94CCF78BAFD8}"/>
              </a:ext>
            </a:extLst>
          </p:cNvPr>
          <p:cNvSpPr>
            <a:spLocks noGrp="1"/>
          </p:cNvSpPr>
          <p:nvPr/>
        </p:nvSpPr>
        <p:spPr>
          <a:xfrm>
            <a:off x="4983479" y="182880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74" name="TextBox 15373">
            <a:extLst>
              <a:ext uri="{FF2B5EF4-FFF2-40B4-BE49-F238E27FC236}">
                <a16:creationId xmlns:a16="http://schemas.microsoft.com/office/drawing/2014/main" id="{5ED73A1F-3875-4FD0-BE04-DDD0DFC90B4D}"/>
              </a:ext>
            </a:extLst>
          </p:cNvPr>
          <p:cNvSpPr>
            <a:spLocks noGrp="1"/>
          </p:cNvSpPr>
          <p:nvPr/>
        </p:nvSpPr>
        <p:spPr>
          <a:xfrm>
            <a:off x="5093207" y="1920240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375" name="TextBox 15374">
            <a:extLst>
              <a:ext uri="{FF2B5EF4-FFF2-40B4-BE49-F238E27FC236}">
                <a16:creationId xmlns:a16="http://schemas.microsoft.com/office/drawing/2014/main" id="{3953CE09-1971-4E6A-AF7B-1F576601C272}"/>
              </a:ext>
            </a:extLst>
          </p:cNvPr>
          <p:cNvSpPr>
            <a:spLocks noGrp="1"/>
          </p:cNvSpPr>
          <p:nvPr/>
        </p:nvSpPr>
        <p:spPr>
          <a:xfrm>
            <a:off x="5440679" y="190195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5376" name="TextBox 15375">
            <a:extLst>
              <a:ext uri="{FF2B5EF4-FFF2-40B4-BE49-F238E27FC236}">
                <a16:creationId xmlns:a16="http://schemas.microsoft.com/office/drawing/2014/main" id="{050CBAEA-81FA-4994-9D32-25EEDC9CB0E9}"/>
              </a:ext>
            </a:extLst>
          </p:cNvPr>
          <p:cNvSpPr>
            <a:spLocks noGrp="1"/>
          </p:cNvSpPr>
          <p:nvPr/>
        </p:nvSpPr>
        <p:spPr>
          <a:xfrm>
            <a:off x="5093207" y="228600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OCR + validation</a:t>
            </a:r>
          </a:p>
        </p:txBody>
      </p:sp>
      <p:sp>
        <p:nvSpPr>
          <p:cNvPr id="15377" name="TextBox 15376">
            <a:extLst>
              <a:ext uri="{FF2B5EF4-FFF2-40B4-BE49-F238E27FC236}">
                <a16:creationId xmlns:a16="http://schemas.microsoft.com/office/drawing/2014/main" id="{7EA1CCA4-6E43-4D99-8A37-984BC2F3DC96}"/>
              </a:ext>
            </a:extLst>
          </p:cNvPr>
          <p:cNvSpPr>
            <a:spLocks noGrp="1"/>
          </p:cNvSpPr>
          <p:nvPr/>
        </p:nvSpPr>
        <p:spPr>
          <a:xfrm>
            <a:off x="7022592" y="21762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378" name="Rounded Rectangle 15377">
            <a:extLst>
              <a:ext uri="{FF2B5EF4-FFF2-40B4-BE49-F238E27FC236}">
                <a16:creationId xmlns:a16="http://schemas.microsoft.com/office/drawing/2014/main" id="{D1A86DA7-93CE-4255-9396-12593435A81D}"/>
              </a:ext>
            </a:extLst>
          </p:cNvPr>
          <p:cNvSpPr>
            <a:spLocks noGrp="1"/>
          </p:cNvSpPr>
          <p:nvPr/>
        </p:nvSpPr>
        <p:spPr>
          <a:xfrm>
            <a:off x="7315199" y="182880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79" name="TextBox 15378">
            <a:extLst>
              <a:ext uri="{FF2B5EF4-FFF2-40B4-BE49-F238E27FC236}">
                <a16:creationId xmlns:a16="http://schemas.microsoft.com/office/drawing/2014/main" id="{7C1FB632-E109-467A-8733-68B4F06872E7}"/>
              </a:ext>
            </a:extLst>
          </p:cNvPr>
          <p:cNvSpPr>
            <a:spLocks noGrp="1"/>
          </p:cNvSpPr>
          <p:nvPr/>
        </p:nvSpPr>
        <p:spPr>
          <a:xfrm>
            <a:off x="7424927" y="1920240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380" name="TextBox 15379">
            <a:extLst>
              <a:ext uri="{FF2B5EF4-FFF2-40B4-BE49-F238E27FC236}">
                <a16:creationId xmlns:a16="http://schemas.microsoft.com/office/drawing/2014/main" id="{3F5EA821-86E8-4EB0-B8A4-C4AB9D4E9FD4}"/>
              </a:ext>
            </a:extLst>
          </p:cNvPr>
          <p:cNvSpPr>
            <a:spLocks noGrp="1"/>
          </p:cNvSpPr>
          <p:nvPr/>
        </p:nvSpPr>
        <p:spPr>
          <a:xfrm>
            <a:off x="7772400" y="190195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FORENSICS</a:t>
            </a:r>
          </a:p>
        </p:txBody>
      </p:sp>
      <p:sp>
        <p:nvSpPr>
          <p:cNvPr id="15381" name="TextBox 15380">
            <a:extLst>
              <a:ext uri="{FF2B5EF4-FFF2-40B4-BE49-F238E27FC236}">
                <a16:creationId xmlns:a16="http://schemas.microsoft.com/office/drawing/2014/main" id="{9877F550-C930-46F1-9EF1-CABF20EE7188}"/>
              </a:ext>
            </a:extLst>
          </p:cNvPr>
          <p:cNvSpPr>
            <a:spLocks noGrp="1"/>
          </p:cNvSpPr>
          <p:nvPr/>
        </p:nvSpPr>
        <p:spPr>
          <a:xfrm>
            <a:off x="7424927" y="228600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/>
              <a:t>ELA + copy-move + metadata</a:t>
            </a:r>
          </a:p>
        </p:txBody>
      </p:sp>
      <p:sp>
        <p:nvSpPr>
          <p:cNvPr id="15382" name="TextBox 15381">
            <a:extLst>
              <a:ext uri="{FF2B5EF4-FFF2-40B4-BE49-F238E27FC236}">
                <a16:creationId xmlns:a16="http://schemas.microsoft.com/office/drawing/2014/main" id="{0F1D02C4-4E08-43DE-A2F0-B2BB5F1A3A3A}"/>
              </a:ext>
            </a:extLst>
          </p:cNvPr>
          <p:cNvSpPr>
            <a:spLocks noGrp="1"/>
          </p:cNvSpPr>
          <p:nvPr/>
        </p:nvSpPr>
        <p:spPr>
          <a:xfrm>
            <a:off x="9354311" y="21762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383" name="Rounded Rectangle 15382">
            <a:extLst>
              <a:ext uri="{FF2B5EF4-FFF2-40B4-BE49-F238E27FC236}">
                <a16:creationId xmlns:a16="http://schemas.microsoft.com/office/drawing/2014/main" id="{BC90E2DF-1AC3-4B4E-942E-EBDB41C370AD}"/>
              </a:ext>
            </a:extLst>
          </p:cNvPr>
          <p:cNvSpPr>
            <a:spLocks noGrp="1"/>
          </p:cNvSpPr>
          <p:nvPr/>
        </p:nvSpPr>
        <p:spPr>
          <a:xfrm>
            <a:off x="9646919" y="182880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84" name="TextBox 15383">
            <a:extLst>
              <a:ext uri="{FF2B5EF4-FFF2-40B4-BE49-F238E27FC236}">
                <a16:creationId xmlns:a16="http://schemas.microsoft.com/office/drawing/2014/main" id="{093805BE-29C5-4F3D-B57E-13124A1514AD}"/>
              </a:ext>
            </a:extLst>
          </p:cNvPr>
          <p:cNvSpPr>
            <a:spLocks noGrp="1"/>
          </p:cNvSpPr>
          <p:nvPr/>
        </p:nvSpPr>
        <p:spPr>
          <a:xfrm>
            <a:off x="9756647" y="1920240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385" name="TextBox 15384">
            <a:extLst>
              <a:ext uri="{FF2B5EF4-FFF2-40B4-BE49-F238E27FC236}">
                <a16:creationId xmlns:a16="http://schemas.microsoft.com/office/drawing/2014/main" id="{A60652BA-DAF8-4617-AA28-C8E16C3A8961}"/>
              </a:ext>
            </a:extLst>
          </p:cNvPr>
          <p:cNvSpPr>
            <a:spLocks noGrp="1"/>
          </p:cNvSpPr>
          <p:nvPr/>
        </p:nvSpPr>
        <p:spPr>
          <a:xfrm>
            <a:off x="10104119" y="190195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ASSESS</a:t>
            </a:r>
          </a:p>
        </p:txBody>
      </p:sp>
      <p:sp>
        <p:nvSpPr>
          <p:cNvPr id="15386" name="TextBox 15385">
            <a:extLst>
              <a:ext uri="{FF2B5EF4-FFF2-40B4-BE49-F238E27FC236}">
                <a16:creationId xmlns:a16="http://schemas.microsoft.com/office/drawing/2014/main" id="{27A0F742-3F72-4641-9FFF-536FD3A8769E}"/>
              </a:ext>
            </a:extLst>
          </p:cNvPr>
          <p:cNvSpPr>
            <a:spLocks noGrp="1"/>
          </p:cNvSpPr>
          <p:nvPr/>
        </p:nvSpPr>
        <p:spPr>
          <a:xfrm>
            <a:off x="9756647" y="228600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/>
              <a:t>Forgery class + decision</a:t>
            </a:r>
          </a:p>
        </p:txBody>
      </p:sp>
      <p:sp>
        <p:nvSpPr>
          <p:cNvPr id="15387" name="Rounded Rectangle 15386">
            <a:extLst>
              <a:ext uri="{FF2B5EF4-FFF2-40B4-BE49-F238E27FC236}">
                <a16:creationId xmlns:a16="http://schemas.microsoft.com/office/drawing/2014/main" id="{5A04CB31-5EBD-4D99-985C-E2CF9B6D4A07}"/>
              </a:ext>
            </a:extLst>
          </p:cNvPr>
          <p:cNvSpPr>
            <a:spLocks noGrp="1"/>
          </p:cNvSpPr>
          <p:nvPr/>
        </p:nvSpPr>
        <p:spPr>
          <a:xfrm>
            <a:off x="411480" y="3154680"/>
            <a:ext cx="5394960" cy="242316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88" name="TextBox 15387">
            <a:extLst>
              <a:ext uri="{FF2B5EF4-FFF2-40B4-BE49-F238E27FC236}">
                <a16:creationId xmlns:a16="http://schemas.microsoft.com/office/drawing/2014/main" id="{AC9B67D9-7E78-42A2-85AD-F42CCAB7FDBD}"/>
              </a:ext>
            </a:extLst>
          </p:cNvPr>
          <p:cNvSpPr>
            <a:spLocks noGrp="1"/>
          </p:cNvSpPr>
          <p:nvPr/>
        </p:nvSpPr>
        <p:spPr>
          <a:xfrm>
            <a:off x="640080" y="324612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HOW IT ADDRESSES THE PROBLEM</a:t>
            </a:r>
          </a:p>
        </p:txBody>
      </p:sp>
      <p:sp>
        <p:nvSpPr>
          <p:cNvPr id="15389" name="TextBox 15388">
            <a:extLst>
              <a:ext uri="{FF2B5EF4-FFF2-40B4-BE49-F238E27FC236}">
                <a16:creationId xmlns:a16="http://schemas.microsoft.com/office/drawing/2014/main" id="{2A52BC2E-2C69-4B64-8234-07F3B17DC809}"/>
              </a:ext>
            </a:extLst>
          </p:cNvPr>
          <p:cNvSpPr>
            <a:spLocks noGrp="1"/>
          </p:cNvSpPr>
          <p:nvPr/>
        </p:nvSpPr>
        <p:spPr>
          <a:xfrm>
            <a:off x="640080" y="3657600"/>
            <a:ext cx="48006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/>
              <a:t>• Screens document images before manual review.</a:t>
            </a:r>
          </a:p>
          <a:p>
            <a:r>
              <a:rPr sz="1050"/>
              <a:t>• Combines document-specific checks with image forensics.</a:t>
            </a:r>
          </a:p>
          <a:p>
            <a:r>
              <a:rPr sz="1050"/>
              <a:t>• Localizes key fields and exposes confidence/evidence for review.</a:t>
            </a:r>
          </a:p>
          <a:p>
            <a:r>
              <a:rPr sz="1050"/>
              <a:t>• Produces a recommended next step rather than only a binary result.</a:t>
            </a:r>
          </a:p>
        </p:txBody>
      </p:sp>
      <p:sp>
        <p:nvSpPr>
          <p:cNvPr id="15390" name="Rounded Rectangle 15389">
            <a:extLst>
              <a:ext uri="{FF2B5EF4-FFF2-40B4-BE49-F238E27FC236}">
                <a16:creationId xmlns:a16="http://schemas.microsoft.com/office/drawing/2014/main" id="{86DCAA2A-59BA-446B-996E-898C11B96E19}"/>
              </a:ext>
            </a:extLst>
          </p:cNvPr>
          <p:cNvSpPr>
            <a:spLocks noGrp="1"/>
          </p:cNvSpPr>
          <p:nvPr/>
        </p:nvSpPr>
        <p:spPr>
          <a:xfrm>
            <a:off x="6080760" y="3154680"/>
            <a:ext cx="5623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91" name="TextBox 15390">
            <a:extLst>
              <a:ext uri="{FF2B5EF4-FFF2-40B4-BE49-F238E27FC236}">
                <a16:creationId xmlns:a16="http://schemas.microsoft.com/office/drawing/2014/main" id="{1BE6AF60-5551-4583-ABFA-E94C7DF6BAE0}"/>
              </a:ext>
            </a:extLst>
          </p:cNvPr>
          <p:cNvSpPr>
            <a:spLocks noGrp="1"/>
          </p:cNvSpPr>
          <p:nvPr/>
        </p:nvSpPr>
        <p:spPr>
          <a:xfrm>
            <a:off x="6309360" y="32461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6F43C4"/>
                </a:solidFill>
                <a:latin typeface="Aptos"/>
                <a:ea typeface="Aptos"/>
                <a:cs typeface="Aptos"/>
              </a:rPr>
              <a:t>INNOVATION &amp; UNIQUENESS</a:t>
            </a:r>
          </a:p>
        </p:txBody>
      </p:sp>
      <p:sp>
        <p:nvSpPr>
          <p:cNvPr id="15392" name="TextBox 15391">
            <a:extLst>
              <a:ext uri="{FF2B5EF4-FFF2-40B4-BE49-F238E27FC236}">
                <a16:creationId xmlns:a16="http://schemas.microsoft.com/office/drawing/2014/main" id="{9797C96F-C48B-49D8-8125-5142D19E3145}"/>
              </a:ext>
            </a:extLst>
          </p:cNvPr>
          <p:cNvSpPr>
            <a:spLocks noGrp="1"/>
          </p:cNvSpPr>
          <p:nvPr/>
        </p:nvSpPr>
        <p:spPr>
          <a:xfrm>
            <a:off x="6309360" y="3657600"/>
            <a:ext cx="49834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/>
              <a:t>• One layered pipeline connects classification → document analysis → forensics → decision.</a:t>
            </a:r>
          </a:p>
          <a:p>
            <a:r>
              <a:rPr sz="1050"/>
              <a:t>• Six classes: genuine, splice, retype, recompress, copy-move, double-compress.</a:t>
            </a:r>
          </a:p>
          <a:p>
            <a:r>
              <a:rPr sz="1050"/>
              <a:t>• Evidence-oriented output combines field confidence, forensic signals and reasons.</a:t>
            </a:r>
          </a:p>
          <a:p>
            <a:r>
              <a:rPr sz="1050"/>
              <a:t>• Modular design allows additional document types and forensic models.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384048" y="310896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53AA"/>
                </a:solidFill>
                <a:latin typeface="Aptos"/>
              </a:rPr>
              <a:t>DocVerify</a:t>
            </a:r>
          </a:p>
        </p:txBody>
      </p:sp>
    </p:spTree>
    <p:extLst>
      <p:ext uri="{BB962C8B-B14F-4D97-AF65-F5344CB8AC3E}">
        <p14:creationId xmlns:p14="http://schemas.microsoft.com/office/powerpoint/2010/main" val="176374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9D436DD2-9D75-4BBF-81CC-2EC21E14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>
              <a:buNone/>
            </a:pPr>
            <a:r>
              <a:rPr sz="24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BB2C2-43DF-4E93-BF13-AFC050308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DCE852-6995-4608-BB1E-9426F39791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745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10" name="TextBox 17409">
            <a:extLst>
              <a:ext uri="{FF2B5EF4-FFF2-40B4-BE49-F238E27FC236}">
                <a16:creationId xmlns:a16="http://schemas.microsoft.com/office/drawing/2014/main" id="{A20A2EA5-AEDF-464D-9757-9E265AD3917A}"/>
              </a:ext>
            </a:extLst>
          </p:cNvPr>
          <p:cNvSpPr>
            <a:spLocks noGrp="1"/>
          </p:cNvSpPr>
          <p:nvPr/>
        </p:nvSpPr>
        <p:spPr>
          <a:xfrm>
            <a:off x="502920" y="11430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END-TO-END ANALYSIS PIPELINE</a:t>
            </a:r>
          </a:p>
        </p:txBody>
      </p:sp>
      <p:sp>
        <p:nvSpPr>
          <p:cNvPr id="17411" name="Rounded Rectangle 17410">
            <a:extLst>
              <a:ext uri="{FF2B5EF4-FFF2-40B4-BE49-F238E27FC236}">
                <a16:creationId xmlns:a16="http://schemas.microsoft.com/office/drawing/2014/main" id="{9E1308AE-B245-42D3-9B46-075B80842190}"/>
              </a:ext>
            </a:extLst>
          </p:cNvPr>
          <p:cNvSpPr>
            <a:spLocks noGrp="1"/>
          </p:cNvSpPr>
          <p:nvPr/>
        </p:nvSpPr>
        <p:spPr>
          <a:xfrm>
            <a:off x="320040" y="1627632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20246EDF-C93C-49DA-93D4-095A6D8D57EA}"/>
              </a:ext>
            </a:extLst>
          </p:cNvPr>
          <p:cNvSpPr>
            <a:spLocks noGrp="1"/>
          </p:cNvSpPr>
          <p:nvPr/>
        </p:nvSpPr>
        <p:spPr>
          <a:xfrm>
            <a:off x="393192" y="1810512"/>
            <a:ext cx="1545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90504E42-62EC-49C9-BAC0-92C0961AB07D}"/>
              </a:ext>
            </a:extLst>
          </p:cNvPr>
          <p:cNvSpPr>
            <a:spLocks noGrp="1"/>
          </p:cNvSpPr>
          <p:nvPr/>
        </p:nvSpPr>
        <p:spPr>
          <a:xfrm>
            <a:off x="411479" y="2249424"/>
            <a:ext cx="1508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Document image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B5762B00-1693-43F8-B40E-084A7B41C9C5}"/>
              </a:ext>
            </a:extLst>
          </p:cNvPr>
          <p:cNvSpPr>
            <a:spLocks noGrp="1"/>
          </p:cNvSpPr>
          <p:nvPr/>
        </p:nvSpPr>
        <p:spPr>
          <a:xfrm>
            <a:off x="2029968" y="21031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415" name="Rounded Rectangle 17414">
            <a:extLst>
              <a:ext uri="{FF2B5EF4-FFF2-40B4-BE49-F238E27FC236}">
                <a16:creationId xmlns:a16="http://schemas.microsoft.com/office/drawing/2014/main" id="{10C00EF0-162D-462E-ACE2-4C6038B897BD}"/>
              </a:ext>
            </a:extLst>
          </p:cNvPr>
          <p:cNvSpPr>
            <a:spLocks noGrp="1"/>
          </p:cNvSpPr>
          <p:nvPr/>
        </p:nvSpPr>
        <p:spPr>
          <a:xfrm>
            <a:off x="2267712" y="1627632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34713E89-8B68-4032-94E0-8E7E2ABFD2ED}"/>
              </a:ext>
            </a:extLst>
          </p:cNvPr>
          <p:cNvSpPr>
            <a:spLocks noGrp="1"/>
          </p:cNvSpPr>
          <p:nvPr/>
        </p:nvSpPr>
        <p:spPr>
          <a:xfrm>
            <a:off x="2340864" y="1810512"/>
            <a:ext cx="1545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Document Classifier</a:t>
            </a:r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3A078848-0EB9-4AC2-AE23-62AE7DF3E03F}"/>
              </a:ext>
            </a:extLst>
          </p:cNvPr>
          <p:cNvSpPr>
            <a:spLocks noGrp="1"/>
          </p:cNvSpPr>
          <p:nvPr/>
        </p:nvSpPr>
        <p:spPr>
          <a:xfrm>
            <a:off x="2359152" y="2249424"/>
            <a:ext cx="1508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E2CB3783-F726-4BBC-974C-154E2C7C1B5C}"/>
              </a:ext>
            </a:extLst>
          </p:cNvPr>
          <p:cNvSpPr>
            <a:spLocks noGrp="1"/>
          </p:cNvSpPr>
          <p:nvPr/>
        </p:nvSpPr>
        <p:spPr>
          <a:xfrm>
            <a:off x="3977639" y="21031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419" name="Rounded Rectangle 17418">
            <a:extLst>
              <a:ext uri="{FF2B5EF4-FFF2-40B4-BE49-F238E27FC236}">
                <a16:creationId xmlns:a16="http://schemas.microsoft.com/office/drawing/2014/main" id="{4186F83E-FEBE-4B8D-A4FE-3029EB1258C5}"/>
              </a:ext>
            </a:extLst>
          </p:cNvPr>
          <p:cNvSpPr>
            <a:spLocks noGrp="1"/>
          </p:cNvSpPr>
          <p:nvPr/>
        </p:nvSpPr>
        <p:spPr>
          <a:xfrm>
            <a:off x="4215383" y="1627632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615EABF4-3213-410D-9250-E5CFD39A1A6E}"/>
              </a:ext>
            </a:extLst>
          </p:cNvPr>
          <p:cNvSpPr>
            <a:spLocks noGrp="1"/>
          </p:cNvSpPr>
          <p:nvPr/>
        </p:nvSpPr>
        <p:spPr>
          <a:xfrm>
            <a:off x="4288536" y="1810512"/>
            <a:ext cx="1545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Document Analysis</a:t>
            </a: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A73A8B44-63FC-4226-B467-D4249CE5B4EF}"/>
              </a:ext>
            </a:extLst>
          </p:cNvPr>
          <p:cNvSpPr>
            <a:spLocks noGrp="1"/>
          </p:cNvSpPr>
          <p:nvPr/>
        </p:nvSpPr>
        <p:spPr>
          <a:xfrm>
            <a:off x="4306823" y="2249424"/>
            <a:ext cx="1508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latin typeface="Aptos"/>
              </a:rPr>
              <a:t>YOLOv8n + OCR
Passport MRZ validation</a:t>
            </a: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08315A77-2AE2-4867-A4ED-841C7A16E8F4}"/>
              </a:ext>
            </a:extLst>
          </p:cNvPr>
          <p:cNvSpPr>
            <a:spLocks noGrp="1"/>
          </p:cNvSpPr>
          <p:nvPr/>
        </p:nvSpPr>
        <p:spPr>
          <a:xfrm>
            <a:off x="5925312" y="21031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423" name="Rounded Rectangle 17422">
            <a:extLst>
              <a:ext uri="{FF2B5EF4-FFF2-40B4-BE49-F238E27FC236}">
                <a16:creationId xmlns:a16="http://schemas.microsoft.com/office/drawing/2014/main" id="{07B64B6A-8008-484A-B275-5B75920AB0BC}"/>
              </a:ext>
            </a:extLst>
          </p:cNvPr>
          <p:cNvSpPr>
            <a:spLocks noGrp="1"/>
          </p:cNvSpPr>
          <p:nvPr/>
        </p:nvSpPr>
        <p:spPr>
          <a:xfrm>
            <a:off x="6163055" y="1627632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0C56A126-0791-4CC7-A68A-2330BCE141C5}"/>
              </a:ext>
            </a:extLst>
          </p:cNvPr>
          <p:cNvSpPr>
            <a:spLocks noGrp="1"/>
          </p:cNvSpPr>
          <p:nvPr/>
        </p:nvSpPr>
        <p:spPr>
          <a:xfrm>
            <a:off x="6236207" y="1810512"/>
            <a:ext cx="1545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Forensics</a:t>
            </a: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D418C2A5-5D80-40C7-AF3A-95E27AA79219}"/>
              </a:ext>
            </a:extLst>
          </p:cNvPr>
          <p:cNvSpPr>
            <a:spLocks noGrp="1"/>
          </p:cNvSpPr>
          <p:nvPr/>
        </p:nvSpPr>
        <p:spPr>
          <a:xfrm>
            <a:off x="6254495" y="2249424"/>
            <a:ext cx="1508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latin typeface="Aptos"/>
              </a:rPr>
              <a:t>ELA • Copy-Move • Metadata
Image Quality • Compression</a:t>
            </a: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3CCD8879-7CFF-4D8D-87F7-6B351E19E9CA}"/>
              </a:ext>
            </a:extLst>
          </p:cNvPr>
          <p:cNvSpPr>
            <a:spLocks noGrp="1"/>
          </p:cNvSpPr>
          <p:nvPr/>
        </p:nvSpPr>
        <p:spPr>
          <a:xfrm>
            <a:off x="7872983" y="21031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427" name="Rounded Rectangle 17426">
            <a:extLst>
              <a:ext uri="{FF2B5EF4-FFF2-40B4-BE49-F238E27FC236}">
                <a16:creationId xmlns:a16="http://schemas.microsoft.com/office/drawing/2014/main" id="{DE95DF3E-E92D-4B12-B3C0-666458605886}"/>
              </a:ext>
            </a:extLst>
          </p:cNvPr>
          <p:cNvSpPr>
            <a:spLocks noGrp="1"/>
          </p:cNvSpPr>
          <p:nvPr/>
        </p:nvSpPr>
        <p:spPr>
          <a:xfrm>
            <a:off x="8110727" y="1627632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6EBF1160-E741-4579-9DD0-EF3BB589D8B3}"/>
              </a:ext>
            </a:extLst>
          </p:cNvPr>
          <p:cNvSpPr>
            <a:spLocks noGrp="1"/>
          </p:cNvSpPr>
          <p:nvPr/>
        </p:nvSpPr>
        <p:spPr>
          <a:xfrm>
            <a:off x="8183879" y="1810512"/>
            <a:ext cx="1545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Forgery Model</a:t>
            </a: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3A0C3DD0-0A55-4E32-9630-EF039C02C95B}"/>
              </a:ext>
            </a:extLst>
          </p:cNvPr>
          <p:cNvSpPr>
            <a:spLocks noGrp="1"/>
          </p:cNvSpPr>
          <p:nvPr/>
        </p:nvSpPr>
        <p:spPr>
          <a:xfrm>
            <a:off x="8202167" y="2249424"/>
            <a:ext cx="1508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819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Random Forest
6 classes</a:t>
            </a:r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4B87D344-7BCF-43BB-A8B9-A5251D1ABD5E}"/>
              </a:ext>
            </a:extLst>
          </p:cNvPr>
          <p:cNvSpPr>
            <a:spLocks noGrp="1"/>
          </p:cNvSpPr>
          <p:nvPr/>
        </p:nvSpPr>
        <p:spPr>
          <a:xfrm>
            <a:off x="9820655" y="21031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431" name="Rounded Rectangle 17430">
            <a:extLst>
              <a:ext uri="{FF2B5EF4-FFF2-40B4-BE49-F238E27FC236}">
                <a16:creationId xmlns:a16="http://schemas.microsoft.com/office/drawing/2014/main" id="{3489A8B5-AB57-4282-A616-1C577F449F9A}"/>
              </a:ext>
            </a:extLst>
          </p:cNvPr>
          <p:cNvSpPr>
            <a:spLocks noGrp="1"/>
          </p:cNvSpPr>
          <p:nvPr/>
        </p:nvSpPr>
        <p:spPr>
          <a:xfrm>
            <a:off x="10058399" y="1627632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32" name="TextBox 17431">
            <a:extLst>
              <a:ext uri="{FF2B5EF4-FFF2-40B4-BE49-F238E27FC236}">
                <a16:creationId xmlns:a16="http://schemas.microsoft.com/office/drawing/2014/main" id="{CFD54FA8-2B53-4513-8F78-61F46887BE72}"/>
              </a:ext>
            </a:extLst>
          </p:cNvPr>
          <p:cNvSpPr>
            <a:spLocks noGrp="1"/>
          </p:cNvSpPr>
          <p:nvPr/>
        </p:nvSpPr>
        <p:spPr>
          <a:xfrm>
            <a:off x="10131551" y="1810512"/>
            <a:ext cx="1545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433" name="TextBox 17432">
            <a:extLst>
              <a:ext uri="{FF2B5EF4-FFF2-40B4-BE49-F238E27FC236}">
                <a16:creationId xmlns:a16="http://schemas.microsoft.com/office/drawing/2014/main" id="{71B44841-83EC-4653-A6AD-CCEC7D721F91}"/>
              </a:ext>
            </a:extLst>
          </p:cNvPr>
          <p:cNvSpPr>
            <a:spLocks noGrp="1"/>
          </p:cNvSpPr>
          <p:nvPr/>
        </p:nvSpPr>
        <p:spPr>
          <a:xfrm>
            <a:off x="10149839" y="2249424"/>
            <a:ext cx="1508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latin typeface="Aptos"/>
              </a:rPr>
              <a:t>Genuine / Suspicious /
Likely Forged + reasons</a:t>
            </a:r>
          </a:p>
        </p:txBody>
      </p:sp>
      <p:sp>
        <p:nvSpPr>
          <p:cNvPr id="17434" name="Rounded Rectangle 17433">
            <a:extLst>
              <a:ext uri="{FF2B5EF4-FFF2-40B4-BE49-F238E27FC236}">
                <a16:creationId xmlns:a16="http://schemas.microsoft.com/office/drawing/2014/main" id="{88C1523B-ADC1-4B06-91C6-72510AE619EC}"/>
              </a:ext>
            </a:extLst>
          </p:cNvPr>
          <p:cNvSpPr>
            <a:spLocks noGrp="1"/>
          </p:cNvSpPr>
          <p:nvPr/>
        </p:nvSpPr>
        <p:spPr>
          <a:xfrm>
            <a:off x="411480" y="3429000"/>
            <a:ext cx="2578608" cy="14173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381FB9AD-F594-41DA-82AA-EB64C2B7659D}"/>
              </a:ext>
            </a:extLst>
          </p:cNvPr>
          <p:cNvSpPr>
            <a:spLocks noGrp="1"/>
          </p:cNvSpPr>
          <p:nvPr/>
        </p:nvSpPr>
        <p:spPr>
          <a:xfrm>
            <a:off x="521208" y="363931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AI / CV</a:t>
            </a:r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DDC4256C-DFA1-49F4-AC5A-5563724AA98A}"/>
              </a:ext>
            </a:extLst>
          </p:cNvPr>
          <p:cNvSpPr>
            <a:spLocks noGrp="1"/>
          </p:cNvSpPr>
          <p:nvPr/>
        </p:nvSpPr>
        <p:spPr>
          <a:xfrm>
            <a:off x="548640" y="3986784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819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PyTorch • TorchVision
Ultralytics YOLOv8n
OpenCV</a:t>
            </a:r>
          </a:p>
        </p:txBody>
      </p:sp>
      <p:sp>
        <p:nvSpPr>
          <p:cNvPr id="17437" name="Rounded Rectangle 17436">
            <a:extLst>
              <a:ext uri="{FF2B5EF4-FFF2-40B4-BE49-F238E27FC236}">
                <a16:creationId xmlns:a16="http://schemas.microsoft.com/office/drawing/2014/main" id="{E9ED6CE2-209A-402A-9655-36F19375A66B}"/>
              </a:ext>
            </a:extLst>
          </p:cNvPr>
          <p:cNvSpPr>
            <a:spLocks noGrp="1"/>
          </p:cNvSpPr>
          <p:nvPr/>
        </p:nvSpPr>
        <p:spPr>
          <a:xfrm>
            <a:off x="3227832" y="3429000"/>
            <a:ext cx="2578608" cy="14173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38" name="TextBox 17437">
            <a:extLst>
              <a:ext uri="{FF2B5EF4-FFF2-40B4-BE49-F238E27FC236}">
                <a16:creationId xmlns:a16="http://schemas.microsoft.com/office/drawing/2014/main" id="{953CB329-9430-4C42-839A-D1CF4B5A1469}"/>
              </a:ext>
            </a:extLst>
          </p:cNvPr>
          <p:cNvSpPr>
            <a:spLocks noGrp="1"/>
          </p:cNvSpPr>
          <p:nvPr/>
        </p:nvSpPr>
        <p:spPr>
          <a:xfrm>
            <a:off x="3337560" y="363931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OCR / Validation</a:t>
            </a:r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7E4BD9E7-911D-4012-A704-74A956051F3A}"/>
              </a:ext>
            </a:extLst>
          </p:cNvPr>
          <p:cNvSpPr>
            <a:spLocks noGrp="1"/>
          </p:cNvSpPr>
          <p:nvPr/>
        </p:nvSpPr>
        <p:spPr>
          <a:xfrm>
            <a:off x="3364992" y="3986784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819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Tesseract / pytesseract
Regex + field checks
Passport MRZ checksum</a:t>
            </a:r>
          </a:p>
        </p:txBody>
      </p:sp>
      <p:sp>
        <p:nvSpPr>
          <p:cNvPr id="17440" name="Rounded Rectangle 17439">
            <a:extLst>
              <a:ext uri="{FF2B5EF4-FFF2-40B4-BE49-F238E27FC236}">
                <a16:creationId xmlns:a16="http://schemas.microsoft.com/office/drawing/2014/main" id="{9A11A89D-C276-47D9-9701-BF80D168192F}"/>
              </a:ext>
            </a:extLst>
          </p:cNvPr>
          <p:cNvSpPr>
            <a:spLocks noGrp="1"/>
          </p:cNvSpPr>
          <p:nvPr/>
        </p:nvSpPr>
        <p:spPr>
          <a:xfrm>
            <a:off x="6044184" y="3429000"/>
            <a:ext cx="2578608" cy="14173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33C3CE15-C790-4230-A801-42395EB7A50D}"/>
              </a:ext>
            </a:extLst>
          </p:cNvPr>
          <p:cNvSpPr>
            <a:spLocks noGrp="1"/>
          </p:cNvSpPr>
          <p:nvPr/>
        </p:nvSpPr>
        <p:spPr>
          <a:xfrm>
            <a:off x="6153912" y="363931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Forensic Analysis</a:t>
            </a:r>
          </a:p>
        </p:txBody>
      </p: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2B3DC70D-A582-48F4-8F44-EECEE5F62BA7}"/>
              </a:ext>
            </a:extLst>
          </p:cNvPr>
          <p:cNvSpPr>
            <a:spLocks noGrp="1"/>
          </p:cNvSpPr>
          <p:nvPr/>
        </p:nvSpPr>
        <p:spPr>
          <a:xfrm>
            <a:off x="6181344" y="3986784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819" b="0">
                <a:solidFill>
                  <a:srgbClr val="50647D"/>
                </a:solidFill>
                <a:latin typeface="Aptos"/>
                <a:ea typeface="Aptos"/>
                <a:cs typeface="Aptos"/>
              </a:rPr>
              <a:t>PIL / OpenCV
ELA • feature matching
EXIF + image quality</a:t>
            </a:r>
          </a:p>
        </p:txBody>
      </p:sp>
      <p:sp>
        <p:nvSpPr>
          <p:cNvPr id="17443" name="Rounded Rectangle 17442">
            <a:extLst>
              <a:ext uri="{FF2B5EF4-FFF2-40B4-BE49-F238E27FC236}">
                <a16:creationId xmlns:a16="http://schemas.microsoft.com/office/drawing/2014/main" id="{587A7946-614B-4343-9FA8-8F19425283E8}"/>
              </a:ext>
            </a:extLst>
          </p:cNvPr>
          <p:cNvSpPr>
            <a:spLocks noGrp="1"/>
          </p:cNvSpPr>
          <p:nvPr/>
        </p:nvSpPr>
        <p:spPr>
          <a:xfrm>
            <a:off x="8860536" y="3429000"/>
            <a:ext cx="2578608" cy="14173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13BE5B99-D6CF-45AD-8FDB-FDBE6BBF81BF}"/>
              </a:ext>
            </a:extLst>
          </p:cNvPr>
          <p:cNvSpPr>
            <a:spLocks noGrp="1"/>
          </p:cNvSpPr>
          <p:nvPr/>
        </p:nvSpPr>
        <p:spPr>
          <a:xfrm>
            <a:off x="8970263" y="363931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Backend / Integration</a:t>
            </a:r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26636DB5-0F77-4AA2-9348-5A33D9FE44F9}"/>
              </a:ext>
            </a:extLst>
          </p:cNvPr>
          <p:cNvSpPr>
            <a:spLocks noGrp="1"/>
          </p:cNvSpPr>
          <p:nvPr/>
        </p:nvSpPr>
        <p:spPr>
          <a:xfrm>
            <a:off x="8997696" y="3986784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latin typeface="Aptos"/>
              </a:rPr>
              <a:t>Python + FastAPI
JSON response to React UI
Local end-to-end flow</a:t>
            </a:r>
          </a:p>
        </p:txBody>
      </p: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B4A56314-5DC0-4274-9AD8-96B240614803}"/>
              </a:ext>
            </a:extLst>
          </p:cNvPr>
          <p:cNvSpPr>
            <a:spLocks noGrp="1"/>
          </p:cNvSpPr>
          <p:nvPr/>
        </p:nvSpPr>
        <p:spPr>
          <a:xfrm>
            <a:off x="502920" y="507492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40"/>
              <a:t>Controlled prototype results: document classifier 99.72%; forgery classifier 91.67% on a controlled synthetic dataset.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75ADC538-51F3-483A-8513-4ACBB400F9D7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/>
              <a:t>Prototype/test-set metrics only; they do not represent real-world or forensic certification. Model confidence is predicted-class confidence, not probability of forgery.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384048" y="310896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53AA"/>
                </a:solidFill>
                <a:latin typeface="Aptos"/>
              </a:rPr>
              <a:t>DocVerify</a:t>
            </a:r>
          </a:p>
        </p:txBody>
      </p:sp>
    </p:spTree>
    <p:extLst>
      <p:ext uri="{BB962C8B-B14F-4D97-AF65-F5344CB8AC3E}">
        <p14:creationId xmlns:p14="http://schemas.microsoft.com/office/powerpoint/2010/main" val="120379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7B04702-8D5E-4A63-B6F0-9382DAAD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>
              <a:buNone/>
            </a:pPr>
            <a:r>
              <a:rPr sz="24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86910-B977-45E4-8149-7D9BCF4E6E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FEAD-156D-408C-84B8-4F86C1DCD29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6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10" name="Rounded Rectangle 17409">
            <a:extLst>
              <a:ext uri="{FF2B5EF4-FFF2-40B4-BE49-F238E27FC236}">
                <a16:creationId xmlns:a16="http://schemas.microsoft.com/office/drawing/2014/main" id="{1EC10FB9-7DBF-4591-ADAD-28BA2E01037E}"/>
              </a:ext>
            </a:extLst>
          </p:cNvPr>
          <p:cNvSpPr>
            <a:spLocks noGrp="1"/>
          </p:cNvSpPr>
          <p:nvPr/>
        </p:nvSpPr>
        <p:spPr>
          <a:xfrm>
            <a:off x="411480" y="1325880"/>
            <a:ext cx="34564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3E4E4ADC-3F8B-4E26-B6B0-1D2187B1E32F}"/>
              </a:ext>
            </a:extLst>
          </p:cNvPr>
          <p:cNvSpPr>
            <a:spLocks noGrp="1"/>
          </p:cNvSpPr>
          <p:nvPr/>
        </p:nvSpPr>
        <p:spPr>
          <a:xfrm>
            <a:off x="576072" y="1572768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7A65C"/>
                </a:solidFill>
                <a:latin typeface="Aptos"/>
                <a:ea typeface="Aptos"/>
                <a:cs typeface="Aptos"/>
              </a:rPr>
              <a:t>FEASIBLE MVP</a:t>
            </a: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5320DB52-1C14-4D55-B5CA-83B07034778E}"/>
              </a:ext>
            </a:extLst>
          </p:cNvPr>
          <p:cNvSpPr>
            <a:spLocks noGrp="1"/>
          </p:cNvSpPr>
          <p:nvPr/>
        </p:nvSpPr>
        <p:spPr>
          <a:xfrm>
            <a:off x="640080" y="2084831"/>
            <a:ext cx="2971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• React upload UI and FastAPI backend communicate through /api/analyze.</a:t>
            </a:r>
          </a:p>
          <a:p>
            <a:r>
              <a:rPr sz="1000"/>
              <a:t>• Modular Python inference pipeline processes JPG/PNG.</a:t>
            </a:r>
          </a:p>
          <a:p>
            <a:r>
              <a:rPr sz="1000"/>
              <a:t>• Aadhaar and passport branches run document-specific checks.</a:t>
            </a:r>
          </a:p>
          <a:p>
            <a:r>
              <a:rPr sz="1000"/>
              <a:t>• Results page renders classifier, forensic and decision outputs.</a:t>
            </a:r>
          </a:p>
        </p:txBody>
      </p:sp>
      <p:sp>
        <p:nvSpPr>
          <p:cNvPr id="17413" name="Rounded Rectangle 17412">
            <a:extLst>
              <a:ext uri="{FF2B5EF4-FFF2-40B4-BE49-F238E27FC236}">
                <a16:creationId xmlns:a16="http://schemas.microsoft.com/office/drawing/2014/main" id="{2C1EB143-026C-4CF2-B78D-6CF9BEFD1E1B}"/>
              </a:ext>
            </a:extLst>
          </p:cNvPr>
          <p:cNvSpPr>
            <a:spLocks noGrp="1"/>
          </p:cNvSpPr>
          <p:nvPr/>
        </p:nvSpPr>
        <p:spPr>
          <a:xfrm>
            <a:off x="4178808" y="1325880"/>
            <a:ext cx="34564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FA40C8C6-7F0B-4658-928A-403906AA44DD}"/>
              </a:ext>
            </a:extLst>
          </p:cNvPr>
          <p:cNvSpPr>
            <a:spLocks noGrp="1"/>
          </p:cNvSpPr>
          <p:nvPr/>
        </p:nvSpPr>
        <p:spPr>
          <a:xfrm>
            <a:off x="4343400" y="1572768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D63838"/>
                </a:solidFill>
                <a:latin typeface="Aptos"/>
                <a:ea typeface="Aptos"/>
                <a:cs typeface="Aptos"/>
              </a:rPr>
              <a:t>KEY CHALLENGES</a:t>
            </a:r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02E2176C-F82F-4BDE-A735-7FF6F312DFCD}"/>
              </a:ext>
            </a:extLst>
          </p:cNvPr>
          <p:cNvSpPr>
            <a:spLocks noGrp="1"/>
          </p:cNvSpPr>
          <p:nvPr/>
        </p:nvSpPr>
        <p:spPr>
          <a:xfrm>
            <a:off x="4407408" y="2084831"/>
            <a:ext cx="2971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• OCR can fail or slow down on blur, tilt and low-quality photos.</a:t>
            </a:r>
          </a:p>
          <a:p>
            <a:r>
              <a:rPr sz="1000"/>
              <a:t>• Global ELA/compression artifacts can create false positives.</a:t>
            </a:r>
          </a:p>
          <a:p>
            <a:r>
              <a:rPr sz="1000"/>
              <a:t>• Copy-move analysis needs stronger independent validation.</a:t>
            </a:r>
          </a:p>
          <a:p>
            <a:r>
              <a:rPr sz="1000"/>
              <a:t>• Development data remains small and controlled.</a:t>
            </a:r>
          </a:p>
        </p:txBody>
      </p:sp>
      <p:sp>
        <p:nvSpPr>
          <p:cNvPr id="17416" name="Rounded Rectangle 17415">
            <a:extLst>
              <a:ext uri="{FF2B5EF4-FFF2-40B4-BE49-F238E27FC236}">
                <a16:creationId xmlns:a16="http://schemas.microsoft.com/office/drawing/2014/main" id="{14B9357A-C629-48A6-9391-24E65C64337D}"/>
              </a:ext>
            </a:extLst>
          </p:cNvPr>
          <p:cNvSpPr>
            <a:spLocks noGrp="1"/>
          </p:cNvSpPr>
          <p:nvPr/>
        </p:nvSpPr>
        <p:spPr>
          <a:xfrm>
            <a:off x="7946136" y="1325880"/>
            <a:ext cx="34564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376387B8-8C6C-4A72-ADBB-FA06CB7F8724}"/>
              </a:ext>
            </a:extLst>
          </p:cNvPr>
          <p:cNvSpPr>
            <a:spLocks noGrp="1"/>
          </p:cNvSpPr>
          <p:nvPr/>
        </p:nvSpPr>
        <p:spPr>
          <a:xfrm>
            <a:off x="8110727" y="1572768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F8D58FA1-FD4F-4D3B-9C7E-1DDBFC61DF3A}"/>
              </a:ext>
            </a:extLst>
          </p:cNvPr>
          <p:cNvSpPr>
            <a:spLocks noGrp="1"/>
          </p:cNvSpPr>
          <p:nvPr/>
        </p:nvSpPr>
        <p:spPr>
          <a:xfrm>
            <a:off x="8174736" y="2084831"/>
            <a:ext cx="2971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• Expose confidence and request clearer images when needed.</a:t>
            </a:r>
          </a:p>
          <a:p>
            <a:r>
              <a:rPr sz="1000"/>
              <a:t>• Treat forensic features as supporting signals, not proof.</a:t>
            </a:r>
          </a:p>
          <a:p>
            <a:r>
              <a:rPr sz="1000"/>
              <a:t>• Route uncertain cases to human review.</a:t>
            </a:r>
          </a:p>
          <a:p>
            <a:r>
              <a:rPr sz="1000"/>
              <a:t>• Expand permitted independent evaluation data and calibrate thresholds.</a:t>
            </a:r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1AAAF5D5-4C3A-43C1-B992-329BB76A8B50}"/>
              </a:ext>
            </a:extLst>
          </p:cNvPr>
          <p:cNvSpPr>
            <a:spLocks noGrp="1"/>
          </p:cNvSpPr>
          <p:nvPr/>
        </p:nvSpPr>
        <p:spPr>
          <a:xfrm>
            <a:off x="594360" y="565099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19"/>
              <a:t>Current stage: local React + FastAPI prototype.</a:t>
            </a:r>
          </a:p>
          <a:p>
            <a:r>
              <a:rPr sz="919"/>
              <a:t>Next: secure storage, observability, queues and authorized integrations.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84048" y="310896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53AA"/>
                </a:solidFill>
                <a:latin typeface="Aptos"/>
              </a:rPr>
              <a:t>DocVerify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96891A6-E46B-4E35-8DA6-90E0D91D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>
              <a:buNone/>
            </a:pPr>
            <a:r>
              <a:rPr sz="24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IMPACT AND HUMAN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7EE2A-2246-4E9E-BAB7-D8C202BEE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2A10A3-F551-4346-AE84-D08955906B4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5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6928" y="1417320"/>
            <a:ext cx="5166360" cy="2423160"/>
          </a:xfrm>
          <a:prstGeom prst="rect">
            <a:avLst/>
          </a:prstGeom>
        </p:spPr>
      </p:pic>
      <p:pic>
        <p:nvPicPr>
          <p:cNvPr id="17426" name="Picture 174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5486400" cy="2606040"/>
          </a:xfrm>
          <a:prstGeom prst="rect">
            <a:avLst/>
          </a:prstGeom>
        </p:spPr>
      </p:pic>
      <p:sp>
        <p:nvSpPr>
          <p:cNvPr id="17411" name="TextBox 17410">
            <a:extLst>
              <a:ext uri="{FF2B5EF4-FFF2-40B4-BE49-F238E27FC236}">
                <a16:creationId xmlns:a16="http://schemas.microsoft.com/office/drawing/2014/main" id="{CC2D6A94-BC41-4D97-B32C-1579736F954B}"/>
              </a:ext>
            </a:extLst>
          </p:cNvPr>
          <p:cNvSpPr>
            <a:spLocks noGrp="1"/>
          </p:cNvSpPr>
          <p:nvPr/>
        </p:nvSpPr>
        <p:spPr>
          <a:xfrm>
            <a:off x="594360" y="388620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/>
              <a:t>UPLOAD → ANALYZE → REVIEW</a:t>
            </a:r>
          </a:p>
        </p:txBody>
      </p:sp>
      <p:sp>
        <p:nvSpPr>
          <p:cNvPr id="17412" name="Rounded Rectangle 17411">
            <a:extLst>
              <a:ext uri="{FF2B5EF4-FFF2-40B4-BE49-F238E27FC236}">
                <a16:creationId xmlns:a16="http://schemas.microsoft.com/office/drawing/2014/main" id="{4A7BCCD3-0115-4EA9-B4F6-58200C51AEA1}"/>
              </a:ext>
            </a:extLst>
          </p:cNvPr>
          <p:cNvSpPr>
            <a:spLocks noGrp="1"/>
          </p:cNvSpPr>
          <p:nvPr/>
        </p:nvSpPr>
        <p:spPr>
          <a:xfrm>
            <a:off x="6217920" y="1325880"/>
            <a:ext cx="5394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1C9F2219-575F-45E7-8EFA-199399E7BD6E}"/>
              </a:ext>
            </a:extLst>
          </p:cNvPr>
          <p:cNvSpPr>
            <a:spLocks noGrp="1"/>
          </p:cNvSpPr>
          <p:nvPr/>
        </p:nvSpPr>
        <p:spPr>
          <a:xfrm>
            <a:off x="6446520" y="157276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TARGET USERS &amp; BENEFITS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9440AD13-134D-420D-8CEA-228726498360}"/>
              </a:ext>
            </a:extLst>
          </p:cNvPr>
          <p:cNvSpPr>
            <a:spLocks noGrp="1"/>
          </p:cNvSpPr>
          <p:nvPr/>
        </p:nvSpPr>
        <p:spPr>
          <a:xfrm>
            <a:off x="6446520" y="2057400"/>
            <a:ext cx="4800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KYC and banking: first-level screening support.</a:t>
            </a:r>
          </a:p>
          <a:p>
            <a:r>
              <a:t>• Border, airport and hospitality: faster document triage.</a:t>
            </a:r>
          </a:p>
          <a:p>
            <a:r>
              <a:t>• Investigators and reviewers: visible forensic evidence and reasons.</a:t>
            </a:r>
          </a:p>
          <a:p>
            <a:r>
              <a:t>• Organizations: API-ready integration path.</a:t>
            </a:r>
          </a:p>
        </p:txBody>
      </p:sp>
      <p:sp>
        <p:nvSpPr>
          <p:cNvPr id="17415" name="Rounded Rectangle 17414">
            <a:extLst>
              <a:ext uri="{FF2B5EF4-FFF2-40B4-BE49-F238E27FC236}">
                <a16:creationId xmlns:a16="http://schemas.microsoft.com/office/drawing/2014/main" id="{A0BA8E46-E748-440D-8B66-158617C525CF}"/>
              </a:ext>
            </a:extLst>
          </p:cNvPr>
          <p:cNvSpPr>
            <a:spLocks noGrp="1"/>
          </p:cNvSpPr>
          <p:nvPr/>
        </p:nvSpPr>
        <p:spPr>
          <a:xfrm>
            <a:off x="502920" y="4434840"/>
            <a:ext cx="5486400" cy="123444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09067E14-C5F6-4CCE-BE8F-6CEB06A02782}"/>
              </a:ext>
            </a:extLst>
          </p:cNvPr>
          <p:cNvSpPr>
            <a:spLocks noGrp="1"/>
          </p:cNvSpPr>
          <p:nvPr/>
        </p:nvSpPr>
        <p:spPr>
          <a:xfrm>
            <a:off x="713232" y="4572000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6F43C4"/>
                </a:solidFill>
                <a:latin typeface="Aptos"/>
                <a:ea typeface="Aptos"/>
                <a:cs typeface="Aptos"/>
              </a:rPr>
              <a:t>DESIGNED FOR HUMAN-IN-THE-LOOP REVIEW</a:t>
            </a:r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9621CDF4-D272-4607-AD47-951FE0D72BBC}"/>
              </a:ext>
            </a:extLst>
          </p:cNvPr>
          <p:cNvSpPr>
            <a:spLocks noGrp="1"/>
          </p:cNvSpPr>
          <p:nvPr/>
        </p:nvSpPr>
        <p:spPr>
          <a:xfrm>
            <a:off x="749808" y="4956048"/>
            <a:ext cx="4983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/>
              <a:t>DocVerify presents signals, field evidence and recommendations.</a:t>
            </a:r>
          </a:p>
          <a:p>
            <a:r>
              <a:rPr sz="950"/>
              <a:t>An authorized reviewer makes the final decision.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84048" y="310896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53AA"/>
                </a:solidFill>
                <a:latin typeface="Aptos"/>
              </a:rPr>
              <a:t>DocVerify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E88B1A9-B066-4EAB-9A42-E1906C96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>
              <a:buNone/>
            </a:pPr>
            <a:r>
              <a:rPr sz="2400" b="1">
                <a:solidFill>
                  <a:srgbClr val="0F1C30"/>
                </a:solidFill>
                <a:latin typeface="Aptos"/>
                <a:ea typeface="Aptos"/>
                <a:cs typeface="Aptos"/>
              </a:rPr>
              <a:t>RESEARCH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556E2-4285-4906-8AEB-76C549E147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0CAAE7-BB59-4DC9-AA98-589E8B8571E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3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10" name="Rounded Rectangle 17409">
            <a:extLst>
              <a:ext uri="{FF2B5EF4-FFF2-40B4-BE49-F238E27FC236}">
                <a16:creationId xmlns:a16="http://schemas.microsoft.com/office/drawing/2014/main" id="{BE7BB9FF-857A-43D1-ADA8-B2E7BD40744A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D3824EEA-304E-4925-A6BB-0D2B0F92979A}"/>
              </a:ext>
            </a:extLst>
          </p:cNvPr>
          <p:cNvSpPr>
            <a:spLocks noGrp="1"/>
          </p:cNvSpPr>
          <p:nvPr/>
        </p:nvSpPr>
        <p:spPr>
          <a:xfrm>
            <a:off x="749808" y="148132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1953AA"/>
                </a:solidFill>
                <a:latin typeface="Aptos"/>
                <a:ea typeface="Aptos"/>
                <a:cs typeface="Aptos"/>
              </a:rPr>
              <a:t>TECHNICAL REFERENCES</a:t>
            </a: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260EF4E3-E5D7-46BD-8190-D14FA1C14FA6}"/>
              </a:ext>
            </a:extLst>
          </p:cNvPr>
          <p:cNvSpPr>
            <a:spLocks noGrp="1"/>
          </p:cNvSpPr>
          <p:nvPr/>
        </p:nvSpPr>
        <p:spPr>
          <a:xfrm>
            <a:off x="749808" y="1874519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/>
              <a:t>• ICAO Doc 9303 — Machine Readable Travel Documents (passport MRZ standard).</a:t>
            </a:r>
          </a:p>
          <a:p>
            <a:r>
              <a:rPr sz="950"/>
              <a:t>• MIDV-500 / MIDV-2020 — mock identity-document research datasets.</a:t>
            </a:r>
          </a:p>
          <a:p>
            <a:r>
              <a:rPr sz="950"/>
              <a:t>• Ultralytics YOLO — Aadhaar field-detection framework.</a:t>
            </a:r>
          </a:p>
          <a:p>
            <a:r>
              <a:rPr sz="950"/>
              <a:t>• OpenCV — image processing and feature analysis.</a:t>
            </a:r>
          </a:p>
          <a:p>
            <a:r>
              <a:rPr sz="950"/>
              <a:t>• FastAPI — local API layer between React and the Python pipeline.</a:t>
            </a:r>
          </a:p>
          <a:p>
            <a:r>
              <a:rPr sz="950"/>
              <a:t>• Tesseract OCR — text extraction and field recognition.</a:t>
            </a:r>
          </a:p>
        </p:txBody>
      </p:sp>
      <p:sp>
        <p:nvSpPr>
          <p:cNvPr id="17413" name="Rounded Rectangle 17412">
            <a:extLst>
              <a:ext uri="{FF2B5EF4-FFF2-40B4-BE49-F238E27FC236}">
                <a16:creationId xmlns:a16="http://schemas.microsoft.com/office/drawing/2014/main" id="{ACFA1FD7-609F-4867-A53E-64C7056D1E4A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440680" cy="452628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16398B63-AD48-4311-AFF6-51FF5D0283B8}"/>
              </a:ext>
            </a:extLst>
          </p:cNvPr>
          <p:cNvSpPr>
            <a:spLocks noGrp="1"/>
          </p:cNvSpPr>
          <p:nvPr/>
        </p:nvSpPr>
        <p:spPr>
          <a:xfrm>
            <a:off x="6419088" y="148132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6F43C4"/>
                </a:solidFill>
                <a:latin typeface="Aptos"/>
                <a:ea typeface="Aptos"/>
                <a:cs typeface="Aptos"/>
              </a:rPr>
              <a:t>PROTOTYPE EVIDENCE</a:t>
            </a:r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CAA3DD80-547B-4E11-976F-4C1345CD6DE4}"/>
              </a:ext>
            </a:extLst>
          </p:cNvPr>
          <p:cNvSpPr>
            <a:spLocks noGrp="1"/>
          </p:cNvSpPr>
          <p:nvPr/>
        </p:nvSpPr>
        <p:spPr>
          <a:xfrm>
            <a:off x="6419088" y="1874519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/>
              <a:t>• ResNet18 classifier: Aadhaar / Passport.</a:t>
            </a:r>
          </a:p>
          <a:p>
            <a:r>
              <a:rPr sz="950"/>
              <a:t>• Controlled test: 355 images; 99.72% accuracy.</a:t>
            </a:r>
          </a:p>
          <a:p>
            <a:r>
              <a:rPr sz="950"/>
              <a:t>• Random Forest: 12 handcrafted forensic features.</a:t>
            </a:r>
          </a:p>
          <a:p>
            <a:r>
              <a:rPr sz="950"/>
              <a:t>• Controlled forgery data: 480 usable images across 6 classes.</a:t>
            </a:r>
          </a:p>
          <a:p>
            <a:r>
              <a:rPr sz="950"/>
              <a:t>• Controlled test: 96 images; 91.67% accuracy.</a:t>
            </a:r>
          </a:p>
          <a:p>
            <a:r>
              <a:rPr sz="950"/>
              <a:t>• Classes: genuine, splice, retype, recompress, copy-move, double-compress.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84048" y="310896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53AA"/>
                </a:solidFill>
                <a:latin typeface="Aptos"/>
              </a:rPr>
              <a:t>DocVerify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873</Words>
  <Application>Microsoft Office PowerPoint</Application>
  <DocSecurity>0</DocSecurity>
  <PresentationFormat>Widescreen</PresentationFormat>
  <Paragraphs>128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TradeGothic</vt:lpstr>
      <vt:lpstr>Office Theme</vt:lpstr>
      <vt:lpstr>PowerPoint Presentation</vt:lpstr>
      <vt:lpstr>DOCVERIFY — EXPLAINABLE DOCUMENT SCREENING</vt:lpstr>
      <vt:lpstr>TECHNICAL APPROACH</vt:lpstr>
      <vt:lpstr>FEASIBILITY AND VIABILITY</vt:lpstr>
      <vt:lpstr>IMPACT AND HUMAN REVIEW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shoaib khan</cp:lastModifiedBy>
  <cp:revision>2</cp:revision>
  <dcterms:created xsi:type="dcterms:W3CDTF">2026-09-10T16:13:05Z</dcterms:created>
  <dcterms:modified xsi:type="dcterms:W3CDTF">2026-09-10T17:28:17Z</dcterms:modified>
</cp:coreProperties>
</file>